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06 slide 1: paragraph spacing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06 slide 2: auto-numbered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06 slide 3: buNone and spcPts line spacing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Fixture 06: Paragraph Spacing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No extra spacing (baseline)</a:t>
            </a:r>
          </a:p>
          <a:p>
            <a:pPr>
              <a:spcBef>
                <a:spcPts val="1800"/>
              </a:spcBef>
            </a:pPr>
            <a:r>
              <a:rPr sz="1600"/>
              <a:t>Space-before 18 pt</a:t>
            </a:r>
          </a:p>
          <a:p>
            <a:pPr>
              <a:spcAft>
                <a:spcPts val="1200"/>
              </a:spcAft>
            </a:pPr>
            <a:r>
              <a:rPr sz="1600"/>
              <a:t>Space-after 12 pt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sz="1600"/>
              <a:t>Both: spcBef=10 spcAft=10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Fixture 06: Auto-numbered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AutoNum type="arabicPeriod"/>
            </a:pPr>
            <a:r>
              <a:rPr sz="1600"/>
              <a:t>Alpha item</a:t>
            </a:r>
          </a:p>
          <a:p>
            <a:pPr>
              <a:buAutoNum type="arabicPeriod"/>
            </a:pPr>
            <a:r>
              <a:rPr sz="1600"/>
              <a:t>Beta item</a:t>
            </a:r>
          </a:p>
          <a:p>
            <a:pPr>
              <a:buAutoNum type="arabicPeriod"/>
            </a:pPr>
            <a:r>
              <a:rPr sz="1600"/>
              <a:t>Gamma item</a:t>
            </a:r>
          </a:p>
          <a:p>
            <a:pPr lvl="1">
              <a:buAutoNum type="arabicPeriod"/>
            </a:pPr>
            <a:r>
              <a:rPr sz="1600"/>
              <a:t>Nested sub-item</a:t>
            </a:r>
          </a:p>
          <a:p>
            <a:pPr>
              <a:buAutoNum type="arabicPeriod"/>
            </a:pPr>
            <a:r>
              <a:rPr sz="1600"/>
              <a:t>Delta item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Fixture 06: buNone + Fixed Line Spacing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buNone/>
            </a:pPr>
            <a:r>
              <a:rPr sz="1600"/>
              <a:t>Fixed line height 22 pt (buNone)</a:t>
            </a:r>
          </a:p>
          <a:p>
            <a:pPr>
              <a:lnSpc>
                <a:spcPts val="2200"/>
              </a:lnSpc>
              <a:buNone/>
            </a:pPr>
            <a:r>
              <a:rPr sz="1600"/>
              <a:t>Same spacing, no bullet</a:t>
            </a:r>
          </a:p>
          <a:p>
            <a:pPr>
              <a:lnSpc>
                <a:spcPts val="2200"/>
              </a:lnSpc>
              <a:buNone/>
            </a:pPr>
            <a:r>
              <a:rPr sz="1600"/>
              <a:t>Third line, consistent gap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